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ru-RU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5975F1-2C6B-4CB2-A0D7-4D58DA3F56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ru-RU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5959A4-5F32-438B-931F-17294AD961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ru-RU" sz="2700" strike="noStrike" u="none">
                <a:solidFill>
                  <a:srgbClr val="ffffff"/>
                </a:solidFill>
                <a:uFillTx/>
                <a:latin typeface="Source Sans Pro Black"/>
              </a:rPr>
              <a:t>Для правки текста заглавия щёлкните мышью</a:t>
            </a:r>
            <a:endParaRPr b="1" lang="ru-RU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Для правки структуры щёлкните мышью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2c3e50"/>
                </a:solidFill>
                <a:uFillTx/>
                <a:latin typeface="Source Sans Pro"/>
              </a:rPr>
              <a:t>Второй уровень структуры</a:t>
            </a:r>
            <a:endParaRPr b="0" lang="ru-RU" sz="21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2" marL="1296000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2c3e50"/>
                </a:solidFill>
                <a:uFillTx/>
                <a:latin typeface="Source Sans Pro"/>
              </a:rPr>
              <a:t>Третий уровень структуры</a:t>
            </a:r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3" marL="1728000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rgbClr val="2c3e50"/>
                </a:solidFill>
                <a:uFillTx/>
                <a:latin typeface="Source Sans Pro"/>
              </a:rPr>
              <a:t>Четвёртый уровень структуры</a:t>
            </a:r>
            <a:endParaRPr b="0" lang="ru-RU" sz="15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4" marL="2160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2c3e50"/>
                </a:solidFill>
                <a:uFillTx/>
                <a:latin typeface="Source Sans Pro"/>
              </a:rPr>
              <a:t>Пятый уровень структуры</a:t>
            </a:r>
            <a:endParaRPr b="0" lang="ru-RU" sz="15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5" marL="2592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2c3e50"/>
                </a:solidFill>
                <a:uFillTx/>
                <a:latin typeface="Source Sans Pro"/>
              </a:rPr>
              <a:t>Шестой уровень структуры</a:t>
            </a:r>
            <a:endParaRPr b="0" lang="ru-RU" sz="15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6" marL="3024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2c3e50"/>
                </a:solidFill>
                <a:uFillTx/>
                <a:latin typeface="Source Sans Pro"/>
              </a:rPr>
              <a:t>Седьмой уровень структуры</a:t>
            </a:r>
            <a:endParaRPr b="0" lang="ru-RU" sz="15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" name="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ru-RU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ru-RU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&lt;дата/время&gt;</a:t>
            </a:r>
            <a:endParaRPr b="1" lang="ru-RU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ru-RU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ru-RU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&lt;нижний колонтитул&gt;</a:t>
            </a:r>
            <a:endParaRPr b="1" lang="ru-RU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9180000" y="5175000"/>
            <a:ext cx="720000" cy="45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ru-RU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fld id="{E9DB3C4B-BA22-40FE-BE33-D84B2369FDB6}" type="slidenum">
              <a:rPr b="1" lang="ru-RU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&lt;номер&gt;</a:t>
            </a:fld>
            <a:endParaRPr b="1" lang="ru-RU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ru-RU" sz="2700" strike="noStrike" u="none">
                <a:solidFill>
                  <a:srgbClr val="ffffff"/>
                </a:solidFill>
                <a:uFillTx/>
                <a:latin typeface="Source Sans Pro Black"/>
              </a:rPr>
              <a:t>Для правки текста заглавия щёлкните мышью</a:t>
            </a:r>
            <a:endParaRPr b="1" lang="ru-RU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spcAft>
                <a:spcPts val="655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Для правки структуры щёлкните мышью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1" marL="864000" indent="0">
              <a:spcAft>
                <a:spcPts val="850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Второй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Третий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Четвёртый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Пятый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Шестой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Седьмой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ru-RU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ru-RU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&lt;дата/время&gt;</a:t>
            </a:r>
            <a:endParaRPr b="1" lang="ru-RU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ru-RU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ru-RU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&lt;нижний колонтитул&gt;</a:t>
            </a:r>
            <a:endParaRPr b="1" lang="ru-RU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ru-RU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fld id="{44D8F01B-845E-46C6-8AFE-5F39CABCC8CC}" type="slidenum">
              <a:rPr b="1" lang="ru-RU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&lt;номер&gt;</a:t>
            </a:fld>
            <a:endParaRPr b="1" lang="ru-RU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20" name="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ru-RU" sz="2700" strike="noStrike" u="none">
                <a:solidFill>
                  <a:srgbClr val="2c3e50"/>
                </a:solidFill>
                <a:uFillTx/>
                <a:latin typeface="Source Sans Pro Black"/>
              </a:rPr>
              <a:t>Для правки текста заглавия щёлкните мышью</a:t>
            </a:r>
            <a:endParaRPr b="1" lang="ru-RU" sz="2700" strike="noStrike" u="none">
              <a:solidFill>
                <a:srgbClr val="2c3e50"/>
              </a:solidFill>
              <a:uFillTx/>
              <a:latin typeface="Source Sans Pro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0">
              <a:spcAft>
                <a:spcPts val="655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Для правки структуры щёлкните мышью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1" marL="864000" indent="0">
              <a:spcAft>
                <a:spcPts val="850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Второй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Третий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Четвёртый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Пятый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Шестой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ru-RU" sz="1500" strike="noStrike" u="none">
                <a:solidFill>
                  <a:srgbClr val="ffffff"/>
                </a:solidFill>
                <a:uFillTx/>
                <a:latin typeface="Source Sans Pro"/>
              </a:rPr>
              <a:t>Седьмой уровень структуры</a:t>
            </a:r>
            <a:endParaRPr b="0" lang="ru-RU" sz="15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ru-RU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ru-RU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&lt;дата/время&gt;</a:t>
            </a:r>
            <a:endParaRPr b="1" lang="ru-RU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ru-RU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ru-RU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&lt;нижний колонтитул&gt;</a:t>
            </a:r>
            <a:endParaRPr b="1" lang="ru-RU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9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ru-RU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fld id="{70E48C6E-304F-4A91-9C10-55456D00FBD1}" type="slidenum">
              <a:rPr b="1" lang="ru-RU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&lt;номер&gt;</a:t>
            </a:fld>
            <a:endParaRPr b="1" lang="ru-RU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60000" y="2658600"/>
            <a:ext cx="9360000" cy="107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ru-RU" sz="4000" strike="noStrike" u="none">
                <a:solidFill>
                  <a:srgbClr val="ffffff"/>
                </a:solidFill>
                <a:uFillTx/>
                <a:latin typeface="Source Sans Pro Black"/>
              </a:rPr>
              <a:t>Презентация решения</a:t>
            </a:r>
            <a:endParaRPr b="1" lang="ru-RU" sz="40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0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Подготовил: Зотеев А.А. </a:t>
            </a:r>
            <a:endParaRPr b="0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indent="0" algn="r">
              <a:buNone/>
            </a:pPr>
            <a:r>
              <a:rPr b="0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«Физтех колледж», г. Долгопрудный</a:t>
            </a:r>
            <a:endParaRPr b="0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ru-RU" sz="2700" strike="noStrike" u="none">
                <a:solidFill>
                  <a:srgbClr val="ffffff"/>
                </a:solidFill>
                <a:uFillTx/>
                <a:latin typeface="Source Sans Pro Black"/>
              </a:rPr>
              <a:t>Описание задания</a:t>
            </a:r>
            <a:endParaRPr b="1" lang="ru-RU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Необходимо разработать нейронные сети, выполняющие функцию составления аннотации и сравнения </a:t>
            </a: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научных статей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6234840" y="2521800"/>
            <a:ext cx="2630160" cy="26301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3AA0B6-15BB-47C3-AC44-427EBE819767}" type="slidenum">
              <a:t>2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А. Анализ и предобработка данных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19688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Описание данных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736560" y="2002320"/>
            <a:ext cx="3170520" cy="325440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5109120" y="1594080"/>
            <a:ext cx="4394160" cy="46260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6079320" y="2347200"/>
            <a:ext cx="2341800" cy="286128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10079C-3FBB-4065-8328-F527FA31DBBD}" type="slidenum">
              <a:t>3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А. Анализ и предобработка данных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3645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Анализ данных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4005000" y="1485000"/>
            <a:ext cx="2818080" cy="355968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9" name=""/>
          <p:cNvSpPr txBox="1"/>
          <p:nvPr/>
        </p:nvSpPr>
        <p:spPr>
          <a:xfrm>
            <a:off x="460800" y="2262600"/>
            <a:ext cx="3078720" cy="236988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Анализ выбросов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Фильтрация по квартилям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240120" y="4708080"/>
            <a:ext cx="3389040" cy="55044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41" name="" descr=""/>
          <p:cNvPicPr/>
          <p:nvPr/>
        </p:nvPicPr>
        <p:blipFill>
          <a:blip r:embed="rId3"/>
          <a:stretch/>
        </p:blipFill>
        <p:spPr>
          <a:xfrm>
            <a:off x="7063920" y="1515240"/>
            <a:ext cx="2699280" cy="358272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1A4A06-F919-46C8-B481-05D68C07A8C8}" type="slidenum">
              <a:t>4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А. Анализ и предобработка данных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Предобработка данных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4902480" y="3399120"/>
            <a:ext cx="4636080" cy="16020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5" name=""/>
          <p:cNvSpPr/>
          <p:nvPr/>
        </p:nvSpPr>
        <p:spPr>
          <a:xfrm>
            <a:off x="400680" y="233784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6" name=""/>
          <p:cNvSpPr/>
          <p:nvPr/>
        </p:nvSpPr>
        <p:spPr>
          <a:xfrm>
            <a:off x="1201680" y="233784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7" name=""/>
          <p:cNvSpPr/>
          <p:nvPr/>
        </p:nvSpPr>
        <p:spPr>
          <a:xfrm>
            <a:off x="2013480" y="234864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8" name=""/>
          <p:cNvSpPr/>
          <p:nvPr/>
        </p:nvSpPr>
        <p:spPr>
          <a:xfrm>
            <a:off x="2803680" y="235944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9" name=""/>
          <p:cNvSpPr/>
          <p:nvPr/>
        </p:nvSpPr>
        <p:spPr>
          <a:xfrm>
            <a:off x="3571920" y="235944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50" name=""/>
          <p:cNvSpPr/>
          <p:nvPr/>
        </p:nvSpPr>
        <p:spPr>
          <a:xfrm>
            <a:off x="941400" y="3398400"/>
            <a:ext cx="2901240" cy="63864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Лемматизация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51" name=""/>
          <p:cNvSpPr/>
          <p:nvPr/>
        </p:nvSpPr>
        <p:spPr>
          <a:xfrm>
            <a:off x="433440" y="464328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52" name=""/>
          <p:cNvSpPr/>
          <p:nvPr/>
        </p:nvSpPr>
        <p:spPr>
          <a:xfrm>
            <a:off x="1234440" y="464328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53" name=""/>
          <p:cNvSpPr/>
          <p:nvPr/>
        </p:nvSpPr>
        <p:spPr>
          <a:xfrm>
            <a:off x="2046240" y="465408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54" name=""/>
          <p:cNvSpPr/>
          <p:nvPr/>
        </p:nvSpPr>
        <p:spPr>
          <a:xfrm>
            <a:off x="2836440" y="466488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55" name=""/>
          <p:cNvSpPr/>
          <p:nvPr/>
        </p:nvSpPr>
        <p:spPr>
          <a:xfrm>
            <a:off x="3604680" y="4664880"/>
            <a:ext cx="671040" cy="44388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56" name=""/>
          <p:cNvSpPr/>
          <p:nvPr/>
        </p:nvSpPr>
        <p:spPr>
          <a:xfrm>
            <a:off x="801000" y="2781720"/>
            <a:ext cx="1526400" cy="6062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57" name=""/>
          <p:cNvSpPr/>
          <p:nvPr/>
        </p:nvSpPr>
        <p:spPr>
          <a:xfrm>
            <a:off x="1656000" y="2781720"/>
            <a:ext cx="671400" cy="6062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58" name=""/>
          <p:cNvSpPr/>
          <p:nvPr/>
        </p:nvSpPr>
        <p:spPr>
          <a:xfrm>
            <a:off x="2327400" y="2792520"/>
            <a:ext cx="0" cy="5954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59" name=""/>
          <p:cNvSpPr/>
          <p:nvPr/>
        </p:nvSpPr>
        <p:spPr>
          <a:xfrm flipH="1">
            <a:off x="2327400" y="2803320"/>
            <a:ext cx="811800" cy="5846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2327400" y="2803320"/>
            <a:ext cx="1515240" cy="5846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747000" y="4037040"/>
            <a:ext cx="1569600" cy="6062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62" name=""/>
          <p:cNvSpPr/>
          <p:nvPr/>
        </p:nvSpPr>
        <p:spPr>
          <a:xfrm flipH="1">
            <a:off x="1580400" y="4037040"/>
            <a:ext cx="736200" cy="6062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63" name=""/>
          <p:cNvSpPr/>
          <p:nvPr/>
        </p:nvSpPr>
        <p:spPr>
          <a:xfrm>
            <a:off x="2316600" y="4037040"/>
            <a:ext cx="0" cy="6170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64" name=""/>
          <p:cNvSpPr/>
          <p:nvPr/>
        </p:nvSpPr>
        <p:spPr>
          <a:xfrm>
            <a:off x="2316600" y="4037040"/>
            <a:ext cx="844200" cy="6278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65" name=""/>
          <p:cNvSpPr/>
          <p:nvPr/>
        </p:nvSpPr>
        <p:spPr>
          <a:xfrm>
            <a:off x="2316600" y="4037040"/>
            <a:ext cx="1666800" cy="62784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5375880" y="1655280"/>
            <a:ext cx="3337560" cy="16272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506EC9-26AF-4C63-9B5C-99FA533CC46B}" type="slidenum">
              <a:t>5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А. Анализ и предобработка данных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Предобработка данных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69" name=""/>
          <p:cNvSpPr/>
          <p:nvPr/>
        </p:nvSpPr>
        <p:spPr>
          <a:xfrm>
            <a:off x="801000" y="2207880"/>
            <a:ext cx="5293080" cy="61704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main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70" name=""/>
          <p:cNvSpPr/>
          <p:nvPr/>
        </p:nvSpPr>
        <p:spPr>
          <a:xfrm>
            <a:off x="822240" y="3041640"/>
            <a:ext cx="1699920" cy="61704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train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71" name=""/>
          <p:cNvSpPr/>
          <p:nvPr/>
        </p:nvSpPr>
        <p:spPr>
          <a:xfrm>
            <a:off x="4404600" y="3042000"/>
            <a:ext cx="1699920" cy="61704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valid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72" name=""/>
          <p:cNvSpPr/>
          <p:nvPr/>
        </p:nvSpPr>
        <p:spPr>
          <a:xfrm>
            <a:off x="2619000" y="3031200"/>
            <a:ext cx="1699920" cy="61704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test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73" name=""/>
          <p:cNvSpPr/>
          <p:nvPr/>
        </p:nvSpPr>
        <p:spPr>
          <a:xfrm>
            <a:off x="1602000" y="2824920"/>
            <a:ext cx="0" cy="21672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74" name=""/>
          <p:cNvSpPr/>
          <p:nvPr/>
        </p:nvSpPr>
        <p:spPr>
          <a:xfrm>
            <a:off x="3496320" y="2824920"/>
            <a:ext cx="0" cy="20628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sp>
        <p:nvSpPr>
          <p:cNvPr id="75" name=""/>
          <p:cNvSpPr/>
          <p:nvPr/>
        </p:nvSpPr>
        <p:spPr>
          <a:xfrm>
            <a:off x="5271480" y="2824920"/>
            <a:ext cx="0" cy="217080"/>
          </a:xfrm>
          <a:prstGeom prst="line">
            <a:avLst/>
          </a:prstGeom>
          <a:ln w="10800">
            <a:solidFill>
              <a:srgbClr val="1abc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1abc9c"/>
              </a:solidFill>
              <a:uFillTx/>
              <a:latin typeface="Source Sans Pro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6094080" y="2207880"/>
            <a:ext cx="3836520" cy="23907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60A53A-629D-4957-B944-AAE30C17FA7E}" type="slidenum">
              <a:t>6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А. Анализ и предобработка данных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Предобработка данных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6756120" y="1638720"/>
            <a:ext cx="2043720" cy="35712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80" name=""/>
          <p:cNvSpPr/>
          <p:nvPr/>
        </p:nvSpPr>
        <p:spPr>
          <a:xfrm>
            <a:off x="530280" y="3074040"/>
            <a:ext cx="2337840" cy="8874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sentence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81" name=""/>
          <p:cNvSpPr/>
          <p:nvPr/>
        </p:nvSpPr>
        <p:spPr>
          <a:xfrm>
            <a:off x="3463920" y="3095640"/>
            <a:ext cx="2337840" cy="8874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tokenizer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82" name=""/>
          <p:cNvSpPr/>
          <p:nvPr/>
        </p:nvSpPr>
        <p:spPr>
          <a:xfrm>
            <a:off x="2976840" y="3366000"/>
            <a:ext cx="357120" cy="41148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83" name=""/>
          <p:cNvSpPr/>
          <p:nvPr/>
        </p:nvSpPr>
        <p:spPr>
          <a:xfrm>
            <a:off x="5942880" y="3344400"/>
            <a:ext cx="432360" cy="411480"/>
          </a:xfrm>
          <a:prstGeom prst="rightArrow">
            <a:avLst>
              <a:gd name="adj1" fmla="val 50000"/>
              <a:gd name="adj2" fmla="val 26269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ru-RU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704600" y="2132280"/>
            <a:ext cx="2884680" cy="51984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000000"/>
                </a:solidFill>
                <a:uFillTx/>
                <a:latin typeface="Source Sans Pro"/>
              </a:rPr>
              <a:t>Токенизация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77D31C-ECF7-43E8-993C-7716618076AC}" type="slidenum">
              <a:t>7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Б. Разработка модели машинного обучения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Подбор алгоритма обучения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03440" y="1839600"/>
            <a:ext cx="2976480" cy="703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Суммаризация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4777200" y="2402640"/>
            <a:ext cx="5040720" cy="17247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89" name=""/>
          <p:cNvSpPr/>
          <p:nvPr/>
        </p:nvSpPr>
        <p:spPr>
          <a:xfrm>
            <a:off x="1753200" y="3096000"/>
            <a:ext cx="1504800" cy="8766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1800" strike="noStrike" u="none">
                <a:solidFill>
                  <a:srgbClr val="ffffff"/>
                </a:solidFill>
                <a:uFillTx/>
                <a:latin typeface="Source Sans Pro"/>
              </a:rPr>
              <a:t>RuT5</a:t>
            </a:r>
            <a:endParaRPr b="1" lang="ru-RU" sz="18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9D2BA2-DA2B-4717-A06D-7607A21BD313}" type="slidenum">
              <a:t>8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Б. Разработка модели машинного обучения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Подбор алгоритма обучения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03440" y="1839600"/>
            <a:ext cx="2976480" cy="703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Сравнение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93" name=""/>
          <p:cNvSpPr/>
          <p:nvPr/>
        </p:nvSpPr>
        <p:spPr>
          <a:xfrm>
            <a:off x="1786320" y="3139560"/>
            <a:ext cx="1504800" cy="8766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1800" strike="noStrike" u="none">
                <a:solidFill>
                  <a:srgbClr val="ffffff"/>
                </a:solidFill>
                <a:uFillTx/>
                <a:latin typeface="Source Sans Pro"/>
              </a:rPr>
              <a:t>Doc2Vec</a:t>
            </a:r>
            <a:endParaRPr b="1" lang="ru-RU" sz="18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5549400" y="2178360"/>
            <a:ext cx="3510360" cy="244008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05DFC6-398B-42D6-A974-D10DB214E673}" type="slidenum">
              <a:t>9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Б. Разработка модели машинного обучения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Подбор алгоритма обучения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03440" y="1839600"/>
            <a:ext cx="2976480" cy="703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Метрики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98" name=""/>
          <p:cNvSpPr/>
          <p:nvPr/>
        </p:nvSpPr>
        <p:spPr>
          <a:xfrm>
            <a:off x="1786320" y="3139560"/>
            <a:ext cx="1504800" cy="8766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1800" strike="noStrike" u="none">
                <a:solidFill>
                  <a:srgbClr val="ffffff"/>
                </a:solidFill>
                <a:uFillTx/>
                <a:latin typeface="Source Sans Pro"/>
              </a:rPr>
              <a:t>ROUGE</a:t>
            </a:r>
            <a:endParaRPr b="1" lang="ru-RU" sz="18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4297680" y="2426400"/>
            <a:ext cx="5626800" cy="18705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947F90-D10F-4664-BDB2-386C4C3A00D0}" type="slidenum">
              <a:t>10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Б. Разработка модели машинного обучения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360000" y="157176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Работа с нейронной сетью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03440" y="1839600"/>
            <a:ext cx="2976480" cy="703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Суммаризация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03" name=""/>
          <p:cNvSpPr/>
          <p:nvPr/>
        </p:nvSpPr>
        <p:spPr>
          <a:xfrm>
            <a:off x="1580760" y="2769480"/>
            <a:ext cx="1504800" cy="8766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model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04" name=""/>
          <p:cNvSpPr/>
          <p:nvPr/>
        </p:nvSpPr>
        <p:spPr>
          <a:xfrm>
            <a:off x="3367080" y="2790720"/>
            <a:ext cx="1504800" cy="8766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args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05" name=""/>
          <p:cNvSpPr/>
          <p:nvPr/>
        </p:nvSpPr>
        <p:spPr>
          <a:xfrm>
            <a:off x="3367080" y="3895560"/>
            <a:ext cx="1504800" cy="8766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collator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06" name=""/>
          <p:cNvSpPr/>
          <p:nvPr/>
        </p:nvSpPr>
        <p:spPr>
          <a:xfrm>
            <a:off x="1582200" y="3906000"/>
            <a:ext cx="1504800" cy="8766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trainer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cxnSp>
        <p:nvCxnSpPr>
          <p:cNvPr id="107" name=""/>
          <p:cNvCxnSpPr>
            <a:stCxn id="103" idx="3"/>
            <a:endCxn id="104" idx="1"/>
          </p:cNvCxnSpPr>
          <p:nvPr/>
        </p:nvCxnSpPr>
        <p:spPr>
          <a:xfrm>
            <a:off x="3085560" y="3207600"/>
            <a:ext cx="281880" cy="21600"/>
          </a:xfrm>
          <a:prstGeom prst="curvedConnector3">
            <a:avLst>
              <a:gd name="adj1" fmla="val 25191"/>
            </a:avLst>
          </a:prstGeom>
          <a:ln w="10800">
            <a:solidFill>
              <a:srgbClr val="1abc9c"/>
            </a:solidFill>
            <a:round/>
            <a:tailEnd len="med" type="triangle" w="med"/>
          </a:ln>
        </p:spPr>
      </p:cxnSp>
      <p:cxnSp>
        <p:nvCxnSpPr>
          <p:cNvPr id="108" name=""/>
          <p:cNvCxnSpPr>
            <a:stCxn id="104" idx="3"/>
            <a:endCxn id="105" idx="-1"/>
          </p:cNvCxnSpPr>
          <p:nvPr/>
        </p:nvCxnSpPr>
        <p:spPr>
          <a:xfrm>
            <a:off x="4871880" y="3228840"/>
            <a:ext cx="360" cy="1105200"/>
          </a:xfrm>
          <a:prstGeom prst="curvedConnector3">
            <a:avLst>
              <a:gd name="adj1" fmla="val 29900000"/>
            </a:avLst>
          </a:prstGeom>
          <a:ln w="10800">
            <a:solidFill>
              <a:srgbClr val="1abc9c"/>
            </a:solidFill>
            <a:round/>
            <a:tailEnd len="med" type="triangle" w="med"/>
          </a:ln>
        </p:spPr>
      </p:cxnSp>
      <p:cxnSp>
        <p:nvCxnSpPr>
          <p:cNvPr id="109" name=""/>
          <p:cNvCxnSpPr>
            <a:stCxn id="105" idx="1"/>
            <a:endCxn id="106" idx="3"/>
          </p:cNvCxnSpPr>
          <p:nvPr/>
        </p:nvCxnSpPr>
        <p:spPr>
          <a:xfrm flipV="1" rot="10800000">
            <a:off x="3087000" y="4333320"/>
            <a:ext cx="280440" cy="10800"/>
          </a:xfrm>
          <a:prstGeom prst="curvedConnector3">
            <a:avLst>
              <a:gd name="adj1" fmla="val 24807"/>
            </a:avLst>
          </a:prstGeom>
          <a:ln w="10800">
            <a:solidFill>
              <a:srgbClr val="1abc9c"/>
            </a:solidFill>
            <a:round/>
            <a:tailEnd len="med" type="triangle" w="med"/>
          </a:ln>
        </p:spPr>
      </p:cxn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6526800" y="1435680"/>
            <a:ext cx="2716560" cy="393192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FF8F8F-A4F5-4553-9E80-D9EED32FABDB}" type="slidenum">
              <a:t>11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Б. Разработка модели машинного обучения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60000" y="157176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Работа с нейронной сетью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03440" y="1839600"/>
            <a:ext cx="2976480" cy="703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Сравнение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43680" y="2543400"/>
            <a:ext cx="3036240" cy="108216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Аугментация данных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2258280" y="3836160"/>
            <a:ext cx="1831680" cy="151884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116" name=""/>
          <p:cNvSpPr/>
          <p:nvPr/>
        </p:nvSpPr>
        <p:spPr>
          <a:xfrm>
            <a:off x="5888160" y="1688400"/>
            <a:ext cx="1634400" cy="8010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data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17" name=""/>
          <p:cNvSpPr/>
          <p:nvPr/>
        </p:nvSpPr>
        <p:spPr>
          <a:xfrm>
            <a:off x="7750080" y="1667160"/>
            <a:ext cx="1634400" cy="8010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tokenize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18" name=""/>
          <p:cNvSpPr/>
          <p:nvPr/>
        </p:nvSpPr>
        <p:spPr>
          <a:xfrm>
            <a:off x="7760880" y="2630160"/>
            <a:ext cx="1634400" cy="8010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tagged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19" name=""/>
          <p:cNvSpPr/>
          <p:nvPr/>
        </p:nvSpPr>
        <p:spPr>
          <a:xfrm>
            <a:off x="5855760" y="2619720"/>
            <a:ext cx="1634400" cy="8010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train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cxnSp>
        <p:nvCxnSpPr>
          <p:cNvPr id="120" name=""/>
          <p:cNvCxnSpPr>
            <a:stCxn id="116" idx="3"/>
            <a:endCxn id="117" idx="1"/>
          </p:cNvCxnSpPr>
          <p:nvPr/>
        </p:nvCxnSpPr>
        <p:spPr>
          <a:xfrm flipV="1">
            <a:off x="7522560" y="2067480"/>
            <a:ext cx="227880" cy="21600"/>
          </a:xfrm>
          <a:prstGeom prst="curvedConnector3">
            <a:avLst>
              <a:gd name="adj1" fmla="val 25316"/>
            </a:avLst>
          </a:prstGeom>
          <a:ln w="10800">
            <a:solidFill>
              <a:srgbClr val="1abc9c"/>
            </a:solidFill>
            <a:round/>
            <a:tailEnd len="med" type="triangle" w="med"/>
          </a:ln>
        </p:spPr>
      </p:cxnSp>
      <p:cxnSp>
        <p:nvCxnSpPr>
          <p:cNvPr id="121" name=""/>
          <p:cNvCxnSpPr>
            <a:stCxn id="117" idx="3"/>
            <a:endCxn id="118" idx="3"/>
          </p:cNvCxnSpPr>
          <p:nvPr/>
        </p:nvCxnSpPr>
        <p:spPr>
          <a:xfrm>
            <a:off x="9384480" y="2067480"/>
            <a:ext cx="11160" cy="963360"/>
          </a:xfrm>
          <a:prstGeom prst="curvedConnector3">
            <a:avLst>
              <a:gd name="adj1" fmla="val 1103333"/>
            </a:avLst>
          </a:prstGeom>
          <a:ln w="10800">
            <a:solidFill>
              <a:srgbClr val="1abc9c"/>
            </a:solidFill>
            <a:round/>
            <a:tailEnd len="med" type="triangle" w="med"/>
          </a:ln>
        </p:spPr>
      </p:cxnSp>
      <p:cxnSp>
        <p:nvCxnSpPr>
          <p:cNvPr id="122" name=""/>
          <p:cNvCxnSpPr>
            <a:stCxn id="118" idx="1"/>
            <a:endCxn id="119" idx="3"/>
          </p:cNvCxnSpPr>
          <p:nvPr/>
        </p:nvCxnSpPr>
        <p:spPr>
          <a:xfrm rot="10800000">
            <a:off x="7490160" y="3019680"/>
            <a:ext cx="271080" cy="10800"/>
          </a:xfrm>
          <a:prstGeom prst="curvedConnector3">
            <a:avLst>
              <a:gd name="adj1" fmla="val 24867"/>
            </a:avLst>
          </a:prstGeom>
          <a:ln w="10800">
            <a:solidFill>
              <a:srgbClr val="1abc9c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444FB3-76F6-4E28-818B-A575BA14D2DC}" type="slidenum">
              <a:t>12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Б. Разработка модели машинного обучения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60000" y="157176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Работа с нейронной сетью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03440" y="1839600"/>
            <a:ext cx="2976480" cy="703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Оптимизация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43680" y="2543400"/>
            <a:ext cx="3902400" cy="269532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Сокращение входных текстов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Сброс кэша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4611960" y="2249640"/>
            <a:ext cx="4390200" cy="310788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5EDC56-E167-485C-9600-ADF97983E0BC}" type="slidenum">
              <a:t>13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Б. Разработка модели машинного обучения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360000" y="157176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Работа с нейронной сетью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03440" y="1839600"/>
            <a:ext cx="2976480" cy="703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API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31" name=""/>
          <p:cNvSpPr/>
          <p:nvPr/>
        </p:nvSpPr>
        <p:spPr>
          <a:xfrm>
            <a:off x="761760" y="2845440"/>
            <a:ext cx="3012120" cy="7146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realization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32" name=""/>
          <p:cNvSpPr/>
          <p:nvPr/>
        </p:nvSpPr>
        <p:spPr>
          <a:xfrm>
            <a:off x="6548760" y="2845440"/>
            <a:ext cx="3012120" cy="714600"/>
          </a:xfrm>
          <a:prstGeom prst="roundRect">
            <a:avLst>
              <a:gd name="adj" fmla="val 16667"/>
            </a:avLst>
          </a:prstGeom>
          <a:solidFill>
            <a:srgbClr val="158466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ffffff"/>
                </a:solidFill>
                <a:uFillTx/>
                <a:latin typeface="Source Sans Pro"/>
              </a:rPr>
              <a:t>abstraction</a:t>
            </a:r>
            <a:endParaRPr b="1" lang="ru-RU" sz="24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453200" y="2686320"/>
            <a:ext cx="1535760" cy="5202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Мост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cxnSp>
        <p:nvCxnSpPr>
          <p:cNvPr id="134" name=""/>
          <p:cNvCxnSpPr>
            <a:stCxn id="131" idx="3"/>
            <a:endCxn id="132" idx="1"/>
          </p:cNvCxnSpPr>
          <p:nvPr/>
        </p:nvCxnSpPr>
        <p:spPr>
          <a:xfrm>
            <a:off x="3773880" y="3202560"/>
            <a:ext cx="2775240" cy="360"/>
          </a:xfrm>
          <a:prstGeom prst="curvedConnector2">
            <a:avLst/>
          </a:prstGeom>
          <a:ln w="10800">
            <a:solidFill>
              <a:srgbClr val="1abc9c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552D00-E3DE-4E84-9BCF-4B8F87CBB99F}" type="slidenum">
              <a:t>14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В. Тестирование разработанной модели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360000" y="157176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Работа с нейронной сетью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03440" y="1839600"/>
            <a:ext cx="2976480" cy="703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API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838440" y="2441880"/>
            <a:ext cx="4037040" cy="294732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139" name="" descr=""/>
          <p:cNvPicPr/>
          <p:nvPr/>
        </p:nvPicPr>
        <p:blipFill>
          <a:blip r:embed="rId2"/>
          <a:stretch/>
        </p:blipFill>
        <p:spPr>
          <a:xfrm>
            <a:off x="4875480" y="2433240"/>
            <a:ext cx="4149360" cy="29559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7A17EA-859C-4B44-A85E-1C3FCA7D2C1E}" type="slidenum">
              <a:t>15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В. Тестирование разработанной модели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358920" y="152820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Автоматическое тестирование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03440" y="1716480"/>
            <a:ext cx="4483440" cy="95004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UNIT-тесты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4701240" y="3499920"/>
            <a:ext cx="3477240" cy="159084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7121160" y="1382760"/>
            <a:ext cx="1904760" cy="19047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145" name=""/>
          <p:cNvSpPr txBox="1"/>
          <p:nvPr/>
        </p:nvSpPr>
        <p:spPr>
          <a:xfrm>
            <a:off x="441360" y="2288520"/>
            <a:ext cx="3948840" cy="309924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Проверка на входящие данные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Проверка на работоспособность модели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E5197D-A6B7-406D-9BA4-C7FE8835E742}" type="slidenum">
              <a:t>16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В. Тестирование разработанной модели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360000" y="157176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Модульное тестированное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03440" y="1716480"/>
            <a:ext cx="4483440" cy="95004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Тест-кейсы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1219680" y="2745000"/>
            <a:ext cx="3293280" cy="249084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5419440" y="2831040"/>
            <a:ext cx="3091320" cy="25488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5DFC74-F37A-4196-A6E0-0A673AAD979F}" type="slidenum">
              <a:t>17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В. Тестирование разработанной модели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360000" y="1571760"/>
            <a:ext cx="7758000" cy="5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7"/>
              </a:spcAft>
              <a:buNone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Модульное тестирование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03440" y="1716480"/>
            <a:ext cx="4483440" cy="95004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Тест-кейсы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1621080" y="2561760"/>
            <a:ext cx="2873160" cy="278460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155" name="" descr=""/>
          <p:cNvPicPr/>
          <p:nvPr/>
        </p:nvPicPr>
        <p:blipFill>
          <a:blip r:embed="rId2"/>
          <a:stretch/>
        </p:blipFill>
        <p:spPr>
          <a:xfrm>
            <a:off x="5186880" y="2586960"/>
            <a:ext cx="3117240" cy="272412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946D4F-2B8A-4D1D-BF4F-E5568FFA0F16}" type="slidenum">
              <a:t>18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Модуль В. Тестирование разработанной модели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03440" y="1121400"/>
            <a:ext cx="4197600" cy="95004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"/>
              </a:rPr>
              <a:t>Вывод по тестам</a:t>
            </a:r>
            <a:endParaRPr b="0" lang="ru-RU" sz="24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450360" y="2038680"/>
            <a:ext cx="5589360" cy="313524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200" strike="noStrike" u="none">
                <a:solidFill>
                  <a:srgbClr val="2c3e50"/>
                </a:solidFill>
                <a:uFillTx/>
                <a:latin typeface="Source Sans Pro"/>
              </a:rPr>
              <a:t>Модель хорошо справляется с около научными статьями</a:t>
            </a:r>
            <a:endParaRPr b="0" lang="ru-RU" sz="22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200" strike="noStrike" u="none">
                <a:solidFill>
                  <a:srgbClr val="2c3e50"/>
                </a:solidFill>
                <a:uFillTx/>
                <a:latin typeface="Source Sans Pro"/>
              </a:rPr>
              <a:t>Плохо сравнивает английские тексты</a:t>
            </a:r>
            <a:endParaRPr b="0" lang="ru-RU" sz="22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200" strike="noStrike" u="none">
                <a:solidFill>
                  <a:srgbClr val="2c3e50"/>
                </a:solidFill>
                <a:uFillTx/>
                <a:latin typeface="Source Sans Pro"/>
              </a:rPr>
              <a:t>Плохо сравнивает тексты без смысла</a:t>
            </a:r>
            <a:endParaRPr b="0" lang="ru-RU" sz="22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6972120" y="2818440"/>
            <a:ext cx="1780920" cy="257148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2E39FC-EFAB-46D6-9F3E-5776B7534F88}" type="slidenum">
              <a:t>19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ru-RU" sz="2600" strike="noStrike" u="none">
                <a:solidFill>
                  <a:srgbClr val="ffffff"/>
                </a:solidFill>
                <a:uFillTx/>
                <a:latin typeface="Source"/>
                <a:ea typeface="Times New Roman"/>
              </a:rPr>
              <a:t>Вывод</a:t>
            </a:r>
            <a:endParaRPr b="1" lang="ru-RU" sz="26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360000" y="1571760"/>
            <a:ext cx="8474400" cy="36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В ходе выполнения КЗ, были реализованы 2 нейронные сети и API к ним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2c3e50"/>
                </a:solidFill>
                <a:uFillTx/>
                <a:latin typeface="Source Sans Pro Semibold"/>
              </a:rPr>
              <a:t>В дальнейшем, стоит протестировать другие модели, а также более объемные наборы данных</a:t>
            </a: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  <a:p>
            <a:pPr indent="0">
              <a:spcAft>
                <a:spcPts val="1057"/>
              </a:spcAft>
              <a:buNone/>
            </a:pPr>
            <a:endParaRPr b="1" lang="ru-RU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352F37-3705-46FB-AE60-576240FB9BD5}" type="slidenum">
              <a:t>20</a:t>
            </a:fld>
          </a:p>
        </p:txBody>
      </p:sp>
    </p:spTree>
  </p:cSld>
  <mc:AlternateContent>
    <mc:Choice Requires="p14">
      <p:transition spd="slow" advTm="20000" p14:dur="2000"/>
    </mc:Choice>
    <mc:Fallback>
      <p:transition spd="slow" advTm="20000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</TotalTime>
  <Application>LibreOffice/24.8.5.2$Windows_X86_64 LibreOffice_project/fddf2685c70b461e7832239a0162a77216259f22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2025-03-17T09:23:30Z</dcterms:created>
  <dc:creator/>
  <dc:description/>
  <dc:language>ru-RU</dc:language>
  <cp:lastModifiedBy/>
  <dcterms:modified xsi:type="dcterms:W3CDTF">2025-03-18T21:16:00Z</dcterms:modified>
  <cp:revision>31</cp:revision>
  <dc:subject/>
  <dc:title>Midnightblue</dc:title>
</cp:coreProperties>
</file>